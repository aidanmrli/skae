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Sparse Koopman Autoencoders for Multibasin Dynamical Systems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Induced latent sparsity makes the active support a label-free indicator of the relevant basin and local linear law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38560" cy="10973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115568"/>
            <a:ext cx="3721608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2E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3721608" cy="82296"/>
          </a:xfrm>
          <a:prstGeom prst="rect">
            <a:avLst/>
          </a:prstGeom>
          <a:solidFill>
            <a:srgbClr val="D9755C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261872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0" kern="0" dirty="0">
                <a:solidFill>
                  <a:srgbClr val="D9755C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01  ·  THE PROBLEM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" y="1517904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Multibasin systems break a single global linearization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6824" y="1115568"/>
            <a:ext cx="3721608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2E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6824" y="1115568"/>
            <a:ext cx="3721608" cy="822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261872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0" kern="0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02  ·  THE MODEL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07992" y="1517904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Sparse-coding Koopman autoencoder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115568"/>
            <a:ext cx="3721608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2E1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115568"/>
            <a:ext cx="3721608" cy="82296"/>
          </a:xfrm>
          <a:prstGeom prst="rect">
            <a:avLst/>
          </a:prstGeom>
          <a:solidFill>
            <a:srgbClr val="178582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1261872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0" kern="0" dirty="0">
                <a:solidFill>
                  <a:srgbClr val="17858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03  ·  THE KEY IDEA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30768" y="1517904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The support identifies the basin and the local law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" y="2103120"/>
            <a:ext cx="3136392" cy="2011680"/>
          </a:xfrm>
          <a:prstGeom prst="roundRect">
            <a:avLst>
              <a:gd name="adj" fmla="val 3636"/>
            </a:avLst>
          </a:prstGeom>
          <a:solidFill>
            <a:srgbClr val="FBFAF4"/>
          </a:solidFill>
          <a:ln w="6350">
            <a:solidFill>
              <a:srgbClr val="E1E2E1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49808" y="2139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state space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1248" y="2267712"/>
            <a:ext cx="566928" cy="566928"/>
          </a:xfrm>
          <a:prstGeom prst="ellipse">
            <a:avLst/>
          </a:prstGeom>
          <a:solidFill>
            <a:srgbClr val="6B5B95">
              <a:alpha val="20000"/>
            </a:srgbClr>
          </a:solidFill>
          <a:ln w="12700">
            <a:solidFill>
              <a:srgbClr val="6B5B9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43295" y="2369759"/>
            <a:ext cx="362834" cy="362834"/>
          </a:xfrm>
          <a:prstGeom prst="ellipse">
            <a:avLst/>
          </a:prstGeom>
          <a:solidFill>
            <a:srgbClr val="6B5B95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73688" y="2500152"/>
            <a:ext cx="102047" cy="102047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2" name="Shape 20"/>
          <p:cNvSpPr/>
          <p:nvPr/>
        </p:nvSpPr>
        <p:spPr>
          <a:xfrm flipH="1" flipV="1">
            <a:off x="1212905" y="2639369"/>
            <a:ext cx="80176" cy="80176"/>
          </a:xfrm>
          <a:prstGeom prst="line">
            <a:avLst/>
          </a:prstGeom>
          <a:noFill/>
          <a:ln w="12700">
            <a:solidFill>
              <a:srgbClr val="6B5B9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956343" y="2639369"/>
            <a:ext cx="80176" cy="80176"/>
          </a:xfrm>
          <a:prstGeom prst="line">
            <a:avLst/>
          </a:prstGeom>
          <a:noFill/>
          <a:ln w="12700">
            <a:solidFill>
              <a:srgbClr val="6B5B9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6343" y="2382807"/>
            <a:ext cx="80176" cy="80176"/>
          </a:xfrm>
          <a:prstGeom prst="line">
            <a:avLst/>
          </a:prstGeom>
          <a:noFill/>
          <a:ln w="12700">
            <a:solidFill>
              <a:srgbClr val="6B5B9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1212905" y="2382807"/>
            <a:ext cx="80176" cy="80176"/>
          </a:xfrm>
          <a:prstGeom prst="line">
            <a:avLst/>
          </a:prstGeom>
          <a:noFill/>
          <a:ln w="12700">
            <a:solidFill>
              <a:srgbClr val="6B5B95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41248" y="28529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5B95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Basin 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81528" y="2286000"/>
            <a:ext cx="566928" cy="566928"/>
          </a:xfrm>
          <a:prstGeom prst="ellipse">
            <a:avLst/>
          </a:prstGeom>
          <a:solidFill>
            <a:srgbClr val="178582">
              <a:alpha val="20000"/>
            </a:srgbClr>
          </a:solidFill>
          <a:ln w="12700">
            <a:solidFill>
              <a:srgbClr val="17858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183575" y="2388047"/>
            <a:ext cx="362834" cy="362834"/>
          </a:xfrm>
          <a:prstGeom prst="ellipse">
            <a:avLst/>
          </a:prstGeom>
          <a:solidFill>
            <a:srgbClr val="178582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13968" y="2518440"/>
            <a:ext cx="102047" cy="102047"/>
          </a:xfrm>
          <a:prstGeom prst="ellipse">
            <a:avLst/>
          </a:prstGeom>
          <a:solidFill>
            <a:srgbClr val="178582"/>
          </a:solidFill>
          <a:ln/>
        </p:spPr>
      </p:sp>
      <p:sp>
        <p:nvSpPr>
          <p:cNvPr id="30" name="Shape 28"/>
          <p:cNvSpPr/>
          <p:nvPr/>
        </p:nvSpPr>
        <p:spPr>
          <a:xfrm flipH="1" flipV="1">
            <a:off x="3453185" y="2657657"/>
            <a:ext cx="80176" cy="80176"/>
          </a:xfrm>
          <a:prstGeom prst="line">
            <a:avLst/>
          </a:prstGeom>
          <a:noFill/>
          <a:ln w="12700">
            <a:solidFill>
              <a:srgbClr val="17858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3196623" y="2657657"/>
            <a:ext cx="80176" cy="80176"/>
          </a:xfrm>
          <a:prstGeom prst="line">
            <a:avLst/>
          </a:prstGeom>
          <a:noFill/>
          <a:ln w="12700">
            <a:solidFill>
              <a:srgbClr val="17858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196623" y="2401095"/>
            <a:ext cx="80176" cy="80176"/>
          </a:xfrm>
          <a:prstGeom prst="line">
            <a:avLst/>
          </a:prstGeom>
          <a:noFill/>
          <a:ln w="12700">
            <a:solidFill>
              <a:srgbClr val="17858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3453185" y="2401095"/>
            <a:ext cx="80176" cy="80176"/>
          </a:xfrm>
          <a:prstGeom prst="line">
            <a:avLst/>
          </a:prstGeom>
          <a:noFill/>
          <a:ln w="12700">
            <a:solidFill>
              <a:srgbClr val="178582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081528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858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Basin 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61388" y="3273552"/>
            <a:ext cx="566928" cy="566928"/>
          </a:xfrm>
          <a:prstGeom prst="ellipse">
            <a:avLst/>
          </a:prstGeom>
          <a:solidFill>
            <a:srgbClr val="D9755C">
              <a:alpha val="20000"/>
            </a:srgbClr>
          </a:solidFill>
          <a:ln w="12700">
            <a:solidFill>
              <a:srgbClr val="D9755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063435" y="3375599"/>
            <a:ext cx="362834" cy="362834"/>
          </a:xfrm>
          <a:prstGeom prst="ellipse">
            <a:avLst/>
          </a:prstGeom>
          <a:solidFill>
            <a:srgbClr val="D9755C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193828" y="3505992"/>
            <a:ext cx="102047" cy="102047"/>
          </a:xfrm>
          <a:prstGeom prst="ellipse">
            <a:avLst/>
          </a:prstGeom>
          <a:solidFill>
            <a:srgbClr val="D9755C"/>
          </a:solidFill>
          <a:ln/>
        </p:spPr>
      </p:sp>
      <p:sp>
        <p:nvSpPr>
          <p:cNvPr id="38" name="Shape 36"/>
          <p:cNvSpPr/>
          <p:nvPr/>
        </p:nvSpPr>
        <p:spPr>
          <a:xfrm flipH="1" flipV="1">
            <a:off x="2333045" y="3645209"/>
            <a:ext cx="80176" cy="80176"/>
          </a:xfrm>
          <a:prstGeom prst="line">
            <a:avLst/>
          </a:prstGeom>
          <a:noFill/>
          <a:ln w="12700">
            <a:solidFill>
              <a:srgbClr val="D9755C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2076483" y="3645209"/>
            <a:ext cx="80176" cy="80176"/>
          </a:xfrm>
          <a:prstGeom prst="line">
            <a:avLst/>
          </a:prstGeom>
          <a:noFill/>
          <a:ln w="12700">
            <a:solidFill>
              <a:srgbClr val="D9755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076483" y="3388647"/>
            <a:ext cx="80176" cy="80176"/>
          </a:xfrm>
          <a:prstGeom prst="line">
            <a:avLst/>
          </a:prstGeom>
          <a:noFill/>
          <a:ln w="12700">
            <a:solidFill>
              <a:srgbClr val="D9755C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2333045" y="3388647"/>
            <a:ext cx="80176" cy="80176"/>
          </a:xfrm>
          <a:prstGeom prst="line">
            <a:avLst/>
          </a:prstGeom>
          <a:noFill/>
          <a:ln w="12700">
            <a:solidFill>
              <a:srgbClr val="D9755C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961388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55C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Basin 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" y="4434840"/>
            <a:ext cx="237744" cy="23774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44" name="Shape 42"/>
          <p:cNvSpPr/>
          <p:nvPr/>
        </p:nvSpPr>
        <p:spPr>
          <a:xfrm>
            <a:off x="718261" y="4476445"/>
            <a:ext cx="154534" cy="154534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 flipV="1">
            <a:off x="718261" y="4476445"/>
            <a:ext cx="154534" cy="154534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987552" y="4398264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 single global linear K cannot describe all basins simultaneously.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76656" y="5148072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8" name="Shape 46"/>
          <p:cNvSpPr/>
          <p:nvPr/>
        </p:nvSpPr>
        <p:spPr>
          <a:xfrm>
            <a:off x="730148" y="5257800"/>
            <a:ext cx="35959" cy="4576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766107" y="5211371"/>
            <a:ext cx="88262" cy="101338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987552" y="5111496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Each basin admits a local linear description, but they are mutually incompatible.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856732" y="2103120"/>
            <a:ext cx="621792" cy="292608"/>
          </a:xfrm>
          <a:prstGeom prst="roundRect">
            <a:avLst>
              <a:gd name="adj" fmla="val 15625"/>
            </a:avLst>
          </a:prstGeom>
          <a:solidFill>
            <a:srgbClr val="F4F4EE"/>
          </a:solidFill>
          <a:ln w="9525">
            <a:solidFill>
              <a:srgbClr val="E1E2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6732" y="210312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xₜ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03620" y="2432304"/>
            <a:ext cx="128016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54" name="Shape 52"/>
          <p:cNvSpPr/>
          <p:nvPr/>
        </p:nvSpPr>
        <p:spPr>
          <a:xfrm>
            <a:off x="5207508" y="2633472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4F4EE"/>
          </a:solidFill>
          <a:ln w="9525">
            <a:solidFill>
              <a:srgbClr val="E1E2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07508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Encoder  </a:t>
            </a:r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Eθ</a:t>
            </a:r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  (LISTA-style sparse code)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03620" y="3035808"/>
            <a:ext cx="128016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8092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1828" y="3236976"/>
            <a:ext cx="155448" cy="256032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55564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29300" y="3236976"/>
            <a:ext cx="155448" cy="256032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03036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6772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0508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24244" y="3236976"/>
            <a:ext cx="155448" cy="256032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97980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71716" y="3236976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3148" y="35021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zₜ  —  sparse latent code, active support S(xₜ)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03620" y="3675888"/>
            <a:ext cx="128016" cy="237744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69" name="Text 67"/>
          <p:cNvSpPr/>
          <p:nvPr/>
        </p:nvSpPr>
        <p:spPr>
          <a:xfrm>
            <a:off x="6259068" y="3675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× K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308092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81828" y="3950208"/>
            <a:ext cx="155448" cy="256032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55564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29300" y="3950208"/>
            <a:ext cx="155448" cy="256032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03036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76772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50508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24244" y="3950208"/>
            <a:ext cx="155448" cy="256032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97980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71716" y="3950208"/>
            <a:ext cx="155448" cy="256032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13148" y="42153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ẑₜ₊₁ = K · zₜ   (linear advance within S)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03620" y="4389120"/>
            <a:ext cx="128016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2" name="Shape 80"/>
          <p:cNvSpPr/>
          <p:nvPr/>
        </p:nvSpPr>
        <p:spPr>
          <a:xfrm>
            <a:off x="5298948" y="4590288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F4F4EE"/>
          </a:solidFill>
          <a:ln w="9525">
            <a:solidFill>
              <a:srgbClr val="E1E2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98948" y="4590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Decoder  </a:t>
            </a:r>
            <a:pPr algn="ctr"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</a:t>
            </a:r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 (linear)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103620" y="4992624"/>
            <a:ext cx="128016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5" name="Shape 83"/>
          <p:cNvSpPr/>
          <p:nvPr/>
        </p:nvSpPr>
        <p:spPr>
          <a:xfrm>
            <a:off x="5783580" y="5193792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F4F4EE"/>
          </a:solidFill>
          <a:ln w="9525">
            <a:solidFill>
              <a:srgbClr val="E1E2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83580" y="519379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x̂ₜ₊₁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581144" y="5687568"/>
            <a:ext cx="3172968" cy="502920"/>
          </a:xfrm>
          <a:prstGeom prst="roundRect">
            <a:avLst>
              <a:gd name="adj" fmla="val 9091"/>
            </a:avLst>
          </a:prstGeom>
          <a:solidFill>
            <a:srgbClr val="F0EFE7"/>
          </a:solidFill>
          <a:ln w="6350">
            <a:solidFill>
              <a:srgbClr val="E1E2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72584" y="568756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Periodic re-encoding.  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Decode and re-encode every m steps so the support can change as the predicted state moves.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430768" y="2139696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6B5B95">
              <a:alpha val="18000"/>
            </a:srgbClr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22208" y="2258568"/>
            <a:ext cx="182880" cy="18288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91" name="Text 89"/>
          <p:cNvSpPr/>
          <p:nvPr/>
        </p:nvSpPr>
        <p:spPr>
          <a:xfrm>
            <a:off x="8741664" y="2139696"/>
            <a:ext cx="448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Basin A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235440" y="2286000"/>
            <a:ext cx="146304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3" name="Shape 91"/>
          <p:cNvSpPr/>
          <p:nvPr/>
        </p:nvSpPr>
        <p:spPr>
          <a:xfrm>
            <a:off x="9427464" y="223113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92056" y="2231136"/>
            <a:ext cx="146304" cy="237744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756648" y="223113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21240" y="2231136"/>
            <a:ext cx="146304" cy="237744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085832" y="223113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250424" y="223113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415016" y="2231136"/>
            <a:ext cx="146304" cy="237744"/>
          </a:xfrm>
          <a:prstGeom prst="rect">
            <a:avLst/>
          </a:prstGeom>
          <a:solidFill>
            <a:srgbClr val="6B5B95"/>
          </a:solidFill>
          <a:ln w="6350">
            <a:solidFill>
              <a:srgbClr val="6B5B9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579608" y="223113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244584" y="24871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active support  S(x)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762488" y="2286000"/>
            <a:ext cx="146304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945368" y="2121408"/>
            <a:ext cx="502920" cy="502920"/>
          </a:xfrm>
          <a:prstGeom prst="rect">
            <a:avLst/>
          </a:prstGeom>
          <a:solidFill>
            <a:srgbClr val="F4F4EE"/>
          </a:solidFill>
          <a:ln w="7620">
            <a:solidFill>
              <a:srgbClr val="E1E2E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963656" y="2157984"/>
            <a:ext cx="99098" cy="429768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080242" y="2157984"/>
            <a:ext cx="99098" cy="429768"/>
          </a:xfrm>
          <a:prstGeom prst="rect">
            <a:avLst/>
          </a:prstGeom>
          <a:solidFill>
            <a:srgbClr val="E5E5D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196828" y="2157984"/>
            <a:ext cx="99098" cy="429768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313414" y="2157984"/>
            <a:ext cx="99098" cy="429768"/>
          </a:xfrm>
          <a:prstGeom prst="rect">
            <a:avLst/>
          </a:prstGeom>
          <a:solidFill>
            <a:srgbClr val="E5E5DE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762488" y="26426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6B5B95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K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6B5B95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8430768" y="2962656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178582">
              <a:alpha val="18000"/>
            </a:srgbClr>
          </a:solidFill>
          <a:ln w="9525">
            <a:solidFill>
              <a:srgbClr val="17858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522208" y="3081528"/>
            <a:ext cx="182880" cy="182880"/>
          </a:xfrm>
          <a:prstGeom prst="ellipse">
            <a:avLst/>
          </a:prstGeom>
          <a:solidFill>
            <a:srgbClr val="178582"/>
          </a:solidFill>
          <a:ln/>
        </p:spPr>
      </p:sp>
      <p:sp>
        <p:nvSpPr>
          <p:cNvPr id="111" name="Text 109"/>
          <p:cNvSpPr/>
          <p:nvPr/>
        </p:nvSpPr>
        <p:spPr>
          <a:xfrm>
            <a:off x="8741664" y="2962656"/>
            <a:ext cx="448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858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Basin B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235440" y="3108960"/>
            <a:ext cx="146304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427464" y="3054096"/>
            <a:ext cx="146304" cy="237744"/>
          </a:xfrm>
          <a:prstGeom prst="rect">
            <a:avLst/>
          </a:prstGeom>
          <a:solidFill>
            <a:srgbClr val="178582"/>
          </a:solidFill>
          <a:ln w="6350">
            <a:solidFill>
              <a:srgbClr val="17858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592056" y="305409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756648" y="305409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921240" y="305409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85832" y="3054096"/>
            <a:ext cx="146304" cy="237744"/>
          </a:xfrm>
          <a:prstGeom prst="rect">
            <a:avLst/>
          </a:prstGeom>
          <a:solidFill>
            <a:srgbClr val="178582"/>
          </a:solidFill>
          <a:ln w="6350">
            <a:solidFill>
              <a:srgbClr val="17858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250424" y="305409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415016" y="3054096"/>
            <a:ext cx="146304" cy="237744"/>
          </a:xfrm>
          <a:prstGeom prst="rect">
            <a:avLst/>
          </a:prstGeom>
          <a:solidFill>
            <a:srgbClr val="EDEDE7"/>
          </a:solidFill>
          <a:ln w="6350">
            <a:solidFill>
              <a:srgbClr val="C8C8C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579608" y="3054096"/>
            <a:ext cx="146304" cy="237744"/>
          </a:xfrm>
          <a:prstGeom prst="rect">
            <a:avLst/>
          </a:prstGeom>
          <a:solidFill>
            <a:srgbClr val="178582"/>
          </a:solidFill>
          <a:ln w="6350">
            <a:solidFill>
              <a:srgbClr val="17858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244584" y="331012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active support  S(x)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10762488" y="3108960"/>
            <a:ext cx="146304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945368" y="2944368"/>
            <a:ext cx="502920" cy="502920"/>
          </a:xfrm>
          <a:prstGeom prst="rect">
            <a:avLst/>
          </a:prstGeom>
          <a:solidFill>
            <a:srgbClr val="F4F4EE"/>
          </a:solidFill>
          <a:ln w="7620">
            <a:solidFill>
              <a:srgbClr val="E1E2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963656" y="2980944"/>
            <a:ext cx="99098" cy="429768"/>
          </a:xfrm>
          <a:prstGeom prst="rect">
            <a:avLst/>
          </a:prstGeom>
          <a:solidFill>
            <a:srgbClr val="E5E5D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1080242" y="2980944"/>
            <a:ext cx="99098" cy="429768"/>
          </a:xfrm>
          <a:prstGeom prst="rect">
            <a:avLst/>
          </a:prstGeom>
          <a:solidFill>
            <a:srgbClr val="178582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196828" y="2980944"/>
            <a:ext cx="99098" cy="429768"/>
          </a:xfrm>
          <a:prstGeom prst="rect">
            <a:avLst/>
          </a:prstGeom>
          <a:solidFill>
            <a:srgbClr val="E5E5D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1313414" y="2980944"/>
            <a:ext cx="99098" cy="429768"/>
          </a:xfrm>
          <a:prstGeom prst="rect">
            <a:avLst/>
          </a:prstGeom>
          <a:solidFill>
            <a:srgbClr val="178582"/>
          </a:solidFill>
          <a:ln/>
        </p:spPr>
      </p:sp>
      <p:sp>
        <p:nvSpPr>
          <p:cNvPr id="128" name="Text 126"/>
          <p:cNvSpPr/>
          <p:nvPr/>
        </p:nvSpPr>
        <p:spPr>
          <a:xfrm>
            <a:off x="10762488" y="3465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7858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K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17858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8503920" y="3822192"/>
            <a:ext cx="3172968" cy="0"/>
          </a:xfrm>
          <a:prstGeom prst="line">
            <a:avLst/>
          </a:prstGeom>
          <a:noFill/>
          <a:ln w="7620">
            <a:solidFill>
              <a:srgbClr val="E1E2E1"/>
            </a:solidFill>
            <a:prstDash val="dash"/>
          </a:ln>
        </p:spPr>
      </p:sp>
      <p:sp>
        <p:nvSpPr>
          <p:cNvPr id="130" name="Text 128"/>
          <p:cNvSpPr/>
          <p:nvPr/>
        </p:nvSpPr>
        <p:spPr>
          <a:xfrm>
            <a:off x="8485632" y="3913632"/>
            <a:ext cx="3209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Different basin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→  </a:t>
            </a:r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different support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→  </a:t>
            </a:r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different active columns of K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→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different effective local linear law.</a:t>
            </a:r>
            <a:endParaRPr lang="en-US" sz="1050" dirty="0"/>
          </a:p>
        </p:txBody>
      </p:sp>
      <p:sp>
        <p:nvSpPr>
          <p:cNvPr id="131" name="Text 129"/>
          <p:cNvSpPr/>
          <p:nvPr/>
        </p:nvSpPr>
        <p:spPr>
          <a:xfrm>
            <a:off x="8485632" y="4754880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Periodic re-encoding refreshes the support across regimes: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8485632" y="5029200"/>
            <a:ext cx="384048" cy="329184"/>
          </a:xfrm>
          <a:prstGeom prst="roundRect">
            <a:avLst>
              <a:gd name="adj" fmla="val 11111"/>
            </a:avLst>
          </a:prstGeom>
          <a:solidFill>
            <a:srgbClr val="6B5B95"/>
          </a:solidFill>
          <a:ln w="7620">
            <a:solidFill>
              <a:srgbClr val="6B5B9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85632" y="5029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z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8897112" y="5129784"/>
            <a:ext cx="128016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043416" y="5029200"/>
            <a:ext cx="420624" cy="329184"/>
          </a:xfrm>
          <a:prstGeom prst="roundRect">
            <a:avLst>
              <a:gd name="adj" fmla="val 11111"/>
            </a:avLst>
          </a:prstGeom>
          <a:solidFill>
            <a:srgbClr val="F4F4EE"/>
          </a:solidFill>
          <a:ln w="7620">
            <a:solidFill>
              <a:srgbClr val="E1E2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43416" y="50292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Kᵐ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9491472" y="5129784"/>
            <a:ext cx="128016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637776" y="5029200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F4F4EE"/>
          </a:solidFill>
          <a:ln w="7620">
            <a:solidFill>
              <a:srgbClr val="E1E2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637776" y="50292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decode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0168128" y="5129784"/>
            <a:ext cx="128016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314432" y="5029200"/>
            <a:ext cx="502920" cy="329184"/>
          </a:xfrm>
          <a:prstGeom prst="roundRect">
            <a:avLst>
              <a:gd name="adj" fmla="val 11111"/>
            </a:avLst>
          </a:prstGeom>
          <a:solidFill>
            <a:srgbClr val="F4F4EE"/>
          </a:solidFill>
          <a:ln w="7620">
            <a:solidFill>
              <a:srgbClr val="E1E2E1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314432" y="50292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encode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10844784" y="5129784"/>
            <a:ext cx="128016" cy="12801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991088" y="5029200"/>
            <a:ext cx="384048" cy="329184"/>
          </a:xfrm>
          <a:prstGeom prst="roundRect">
            <a:avLst>
              <a:gd name="adj" fmla="val 11111"/>
            </a:avLst>
          </a:prstGeom>
          <a:solidFill>
            <a:srgbClr val="178582"/>
          </a:solidFill>
          <a:ln w="7620">
            <a:solidFill>
              <a:srgbClr val="178582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991088" y="5029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z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FFFFFF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B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8485632" y="54315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F2937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→  the support can switch when the trajectory crosses into another basin.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384048" y="6446520"/>
            <a:ext cx="11423599" cy="310896"/>
          </a:xfrm>
          <a:prstGeom prst="roundRect">
            <a:avLst>
              <a:gd name="adj" fmla="val 17647"/>
            </a:avLst>
          </a:prstGeom>
          <a:solidFill>
            <a:srgbClr val="FFF6D6"/>
          </a:solidFill>
          <a:ln w="7620">
            <a:solidFill>
              <a:srgbClr val="E2C97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02920" y="6446520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6C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Core idea.  </a:t>
            </a:r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Sparse latent code 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→  </a:t>
            </a:r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active support agrees with basin 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→  </a:t>
            </a:r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support routes prediction to a local linear law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   (no basin labels used during training).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Sparse Koopman Autoencoders for Multibasin Dynamics — overview</dc:title>
  <dc:subject>PptxGenJS Presentation</dc:subject>
  <dc:creator>Aidan Li</dc:creator>
  <cp:lastModifiedBy>Aidan Li</cp:lastModifiedBy>
  <cp:revision>1</cp:revision>
  <dcterms:created xsi:type="dcterms:W3CDTF">2026-05-02T20:44:32Z</dcterms:created>
  <dcterms:modified xsi:type="dcterms:W3CDTF">2026-05-02T20:44:32Z</dcterms:modified>
</cp:coreProperties>
</file>